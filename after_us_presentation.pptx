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6.svg" ContentType="image/svg"/>
  <Override PartName="/ppt/media/image2.svg" ContentType="image/svg"/>
  <Override PartName="/ppt/media/image5.png" ContentType="image/png"/>
  <Override PartName="/ppt/media/image3.png" ContentType="image/png"/>
  <Override PartName="/ppt/media/image8.svg" ContentType="image/svg"/>
  <Override PartName="/ppt/media/image4.svg" ContentType="image/svg"/>
  <Override PartName="/ppt/media/image11.png" ContentType="image/png"/>
  <Override PartName="/ppt/media/image7.png" ContentType="image/png"/>
  <Override PartName="/ppt/media/image9.png" ContentType="image/png"/>
  <Override PartName="/ppt/media/image10.svg" ContentType="image/svg"/>
  <Override PartName="/ppt/media/image12.svg" ContentType="image/sv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</p:sldIdLst>
  <p:sldSz cx="18288000" cy="10287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6F5102D-DABD-404F-B3D8-12D5365C010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0650603-A807-4F66-B290-DA2A7E1DE10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818BF02B-4DAC-41DF-A20C-74D13470227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9AF0A2ED-43DD-40F8-BBBC-13D53F3B983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D87DA0B7-1455-4635-A4A9-F66C21986B5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DC8E2A23-4D7C-4D48-9118-D9321CAC68E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C4923679-011B-4C59-AAEC-7C509034EB1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221B5EA5-606F-4F9E-A11B-B17C1AC6200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7E9A4336-8E56-4EB5-B72D-A6BF1327754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BA293BBE-7E25-4EC4-81B2-E687D3D7E50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05357C6F-07CE-4F96-B187-5C95C0ECBAC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C5556DA-E6DE-4CAC-BD36-C7E6579063E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ECCEDF6-96AA-4FB4-B19E-D91B0CC6F7D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13EF20B-8645-4622-8925-A4E599830F2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50DAFEC-E540-42E8-B5A7-7C7FDAFFA00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A936DA8-A533-4369-8036-4A8782B9241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2A007E9-58C0-4791-873B-9D5B9BE7971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8958101-7DAC-4242-84CC-DC718DC75E3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D7433A1-2E4A-485C-911E-74ACEA94371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C6396DF-D744-4FDA-92EB-A859B9DE98A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Для правки текста заглавия щёлкните мышью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Для правки структуры щёлкните мышью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Второй уровень структуры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Третий уровень структуры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Четвёртый уровень структуры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Пятый уровень структуры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Шестой уровень структуры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Седьмой уровень структуры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8B132ED-AAD0-4C87-83EF-A883F709CAC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Для правки структуры щёлкните мышью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Второй уровень структуры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Третий уровень структуры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Четвёртый уровень структуры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Пятый уровень структуры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Шестой уровень структуры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Седьмой уровень структуры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C826849-FDB1-4C37-A967-25AA8A870DE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image" Target="../media/image7.png"/><Relationship Id="rId8" Type="http://schemas.openxmlformats.org/officeDocument/2006/relationships/image" Target="../media/image8.svg"/><Relationship Id="rId9" Type="http://schemas.openxmlformats.org/officeDocument/2006/relationships/image" Target="../media/image9.png"/><Relationship Id="rId10" Type="http://schemas.openxmlformats.org/officeDocument/2006/relationships/image" Target="../media/image10.svg"/><Relationship Id="rId11" Type="http://schemas.openxmlformats.org/officeDocument/2006/relationships/image" Target="../media/image11.png"/><Relationship Id="rId12" Type="http://schemas.openxmlformats.org/officeDocument/2006/relationships/image" Target="../media/image12.svg"/><Relationship Id="rId13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svg"/><Relationship Id="rId3" Type="http://schemas.openxmlformats.org/officeDocument/2006/relationships/image" Target="../media/image5.png"/><Relationship Id="rId4" Type="http://schemas.openxmlformats.org/officeDocument/2006/relationships/image" Target="../media/image6.svg"/><Relationship Id="rId5" Type="http://schemas.openxmlformats.org/officeDocument/2006/relationships/image" Target="../media/image7.png"/><Relationship Id="rId6" Type="http://schemas.openxmlformats.org/officeDocument/2006/relationships/image" Target="../media/image8.svg"/><Relationship Id="rId7" Type="http://schemas.openxmlformats.org/officeDocument/2006/relationships/image" Target="../media/image11.png"/><Relationship Id="rId8" Type="http://schemas.openxmlformats.org/officeDocument/2006/relationships/image" Target="../media/image12.svg"/><Relationship Id="rId9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7.png"/><Relationship Id="rId6" Type="http://schemas.openxmlformats.org/officeDocument/2006/relationships/image" Target="../media/image8.svg"/><Relationship Id="rId7" Type="http://schemas.openxmlformats.org/officeDocument/2006/relationships/image" Target="../media/image11.png"/><Relationship Id="rId8" Type="http://schemas.openxmlformats.org/officeDocument/2006/relationships/image" Target="../media/image12.svg"/><Relationship Id="rId9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5.png"/><Relationship Id="rId4" Type="http://schemas.openxmlformats.org/officeDocument/2006/relationships/image" Target="../media/image6.svg"/><Relationship Id="rId5" Type="http://schemas.openxmlformats.org/officeDocument/2006/relationships/image" Target="../media/image7.png"/><Relationship Id="rId6" Type="http://schemas.openxmlformats.org/officeDocument/2006/relationships/image" Target="../media/image8.svg"/><Relationship Id="rId7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image" Target="../media/image11.png"/><Relationship Id="rId8" Type="http://schemas.openxmlformats.org/officeDocument/2006/relationships/image" Target="../media/image12.svg"/><Relationship Id="rId9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7.png"/><Relationship Id="rId6" Type="http://schemas.openxmlformats.org/officeDocument/2006/relationships/image" Target="../media/image8.svg"/><Relationship Id="rId7" Type="http://schemas.openxmlformats.org/officeDocument/2006/relationships/image" Target="../media/image11.png"/><Relationship Id="rId8" Type="http://schemas.openxmlformats.org/officeDocument/2006/relationships/image" Target="../media/image12.svg"/><Relationship Id="rId9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svg"/><Relationship Id="rId3" Type="http://schemas.openxmlformats.org/officeDocument/2006/relationships/image" Target="../media/image7.png"/><Relationship Id="rId4" Type="http://schemas.openxmlformats.org/officeDocument/2006/relationships/image" Target="../media/image8.svg"/><Relationship Id="rId5" Type="http://schemas.openxmlformats.org/officeDocument/2006/relationships/image" Target="../media/image11.png"/><Relationship Id="rId6" Type="http://schemas.openxmlformats.org/officeDocument/2006/relationships/image" Target="../media/image12.svg"/><Relationship Id="rId7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image" Target="../media/image11.png"/><Relationship Id="rId8" Type="http://schemas.openxmlformats.org/officeDocument/2006/relationships/image" Target="../media/image12.svg"/><Relationship Id="rId9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image" Target="../media/image7.png"/><Relationship Id="rId8" Type="http://schemas.openxmlformats.org/officeDocument/2006/relationships/image" Target="../media/image8.svg"/><Relationship Id="rId9" Type="http://schemas.openxmlformats.org/officeDocument/2006/relationships/image" Target="../media/image9.png"/><Relationship Id="rId10" Type="http://schemas.openxmlformats.org/officeDocument/2006/relationships/image" Target="../media/image10.svg"/><Relationship Id="rId11" Type="http://schemas.openxmlformats.org/officeDocument/2006/relationships/image" Target="../media/image11.png"/><Relationship Id="rId12" Type="http://schemas.openxmlformats.org/officeDocument/2006/relationships/image" Target="../media/image12.svg"/><Relationship Id="rId13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9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Freeform 2"/>
          <p:cNvSpPr/>
          <p:nvPr/>
        </p:nvSpPr>
        <p:spPr>
          <a:xfrm>
            <a:off x="6726960" y="7943400"/>
            <a:ext cx="4833720" cy="3515400"/>
          </a:xfrm>
          <a:custGeom>
            <a:avLst/>
            <a:gdLst>
              <a:gd name="textAreaLeft" fmla="*/ 0 w 4833720"/>
              <a:gd name="textAreaRight" fmla="*/ 4834080 w 4833720"/>
              <a:gd name="textAreaTop" fmla="*/ 0 h 3515400"/>
              <a:gd name="textAreaBottom" fmla="*/ 3515760 h 3515400"/>
            </a:gdLst>
            <a:ahLst/>
            <a:rect l="textAreaLeft" t="textAreaTop" r="textAreaRight" b="textAreaBottom"/>
            <a:pathLst>
              <a:path w="4834239" h="3515810">
                <a:moveTo>
                  <a:pt x="0" y="0"/>
                </a:moveTo>
                <a:lnTo>
                  <a:pt x="4834240" y="0"/>
                </a:lnTo>
                <a:lnTo>
                  <a:pt x="4834240" y="3515810"/>
                </a:lnTo>
                <a:lnTo>
                  <a:pt x="0" y="351581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Freeform 3"/>
          <p:cNvSpPr/>
          <p:nvPr/>
        </p:nvSpPr>
        <p:spPr>
          <a:xfrm>
            <a:off x="-717480" y="100800"/>
            <a:ext cx="5271840" cy="4888440"/>
          </a:xfrm>
          <a:custGeom>
            <a:avLst/>
            <a:gdLst>
              <a:gd name="textAreaLeft" fmla="*/ 0 w 5271840"/>
              <a:gd name="textAreaRight" fmla="*/ 5272200 w 5271840"/>
              <a:gd name="textAreaTop" fmla="*/ 0 h 4888440"/>
              <a:gd name="textAreaBottom" fmla="*/ 4888800 h 4888440"/>
            </a:gdLst>
            <a:ahLst/>
            <a:rect l="textAreaLeft" t="textAreaTop" r="textAreaRight" b="textAreaBottom"/>
            <a:pathLst>
              <a:path w="5272202" h="4888769">
                <a:moveTo>
                  <a:pt x="0" y="0"/>
                </a:moveTo>
                <a:lnTo>
                  <a:pt x="5272202" y="0"/>
                </a:lnTo>
                <a:lnTo>
                  <a:pt x="5272202" y="4888769"/>
                </a:lnTo>
                <a:lnTo>
                  <a:pt x="0" y="488876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Freeform 4"/>
          <p:cNvSpPr/>
          <p:nvPr/>
        </p:nvSpPr>
        <p:spPr>
          <a:xfrm>
            <a:off x="12083040" y="5443560"/>
            <a:ext cx="8111880" cy="6415560"/>
          </a:xfrm>
          <a:custGeom>
            <a:avLst/>
            <a:gdLst>
              <a:gd name="textAreaLeft" fmla="*/ 0 w 8111880"/>
              <a:gd name="textAreaRight" fmla="*/ 8112240 w 8111880"/>
              <a:gd name="textAreaTop" fmla="*/ 0 h 6415560"/>
              <a:gd name="textAreaBottom" fmla="*/ 6415920 h 6415560"/>
            </a:gdLst>
            <a:ahLst/>
            <a:rect l="textAreaLeft" t="textAreaTop" r="textAreaRight" b="textAreaBottom"/>
            <a:pathLst>
              <a:path w="8112138" h="6415964">
                <a:moveTo>
                  <a:pt x="0" y="0"/>
                </a:moveTo>
                <a:lnTo>
                  <a:pt x="8112138" y="0"/>
                </a:lnTo>
                <a:lnTo>
                  <a:pt x="8112138" y="6415964"/>
                </a:lnTo>
                <a:lnTo>
                  <a:pt x="0" y="641596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Freeform 5"/>
          <p:cNvSpPr/>
          <p:nvPr/>
        </p:nvSpPr>
        <p:spPr>
          <a:xfrm>
            <a:off x="13774320" y="0"/>
            <a:ext cx="4728960" cy="5090040"/>
          </a:xfrm>
          <a:custGeom>
            <a:avLst/>
            <a:gdLst>
              <a:gd name="textAreaLeft" fmla="*/ 0 w 4728960"/>
              <a:gd name="textAreaRight" fmla="*/ 4729320 w 4728960"/>
              <a:gd name="textAreaTop" fmla="*/ 0 h 5090040"/>
              <a:gd name="textAreaBottom" fmla="*/ 5090400 h 5090040"/>
            </a:gdLst>
            <a:ahLst/>
            <a:rect l="textAreaLeft" t="textAreaTop" r="textAreaRight" b="textAreaBottom"/>
            <a:pathLst>
              <a:path w="4729301" h="5090246">
                <a:moveTo>
                  <a:pt x="0" y="0"/>
                </a:moveTo>
                <a:lnTo>
                  <a:pt x="4729301" y="0"/>
                </a:lnTo>
                <a:lnTo>
                  <a:pt x="4729301" y="5090246"/>
                </a:lnTo>
                <a:lnTo>
                  <a:pt x="0" y="509024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Freeform 6"/>
          <p:cNvSpPr/>
          <p:nvPr/>
        </p:nvSpPr>
        <p:spPr>
          <a:xfrm>
            <a:off x="5486400" y="-38160"/>
            <a:ext cx="7314840" cy="2133720"/>
          </a:xfrm>
          <a:custGeom>
            <a:avLst/>
            <a:gdLst>
              <a:gd name="textAreaLeft" fmla="*/ 0 w 7314840"/>
              <a:gd name="textAreaRight" fmla="*/ 7315200 w 7314840"/>
              <a:gd name="textAreaTop" fmla="*/ 0 h 2133720"/>
              <a:gd name="textAreaBottom" fmla="*/ 2134080 h 2133720"/>
            </a:gdLst>
            <a:ahLst/>
            <a:rect l="textAreaLeft" t="textAreaTop" r="textAreaRight" b="textAreaBottom"/>
            <a:pathLst>
              <a:path w="7315200" h="2133956">
                <a:moveTo>
                  <a:pt x="0" y="0"/>
                </a:moveTo>
                <a:lnTo>
                  <a:pt x="7315200" y="0"/>
                </a:lnTo>
                <a:lnTo>
                  <a:pt x="7315200" y="2133956"/>
                </a:lnTo>
                <a:lnTo>
                  <a:pt x="0" y="213395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Freeform 7"/>
          <p:cNvSpPr/>
          <p:nvPr/>
        </p:nvSpPr>
        <p:spPr>
          <a:xfrm>
            <a:off x="-171720" y="6288480"/>
            <a:ext cx="4726080" cy="4726080"/>
          </a:xfrm>
          <a:custGeom>
            <a:avLst/>
            <a:gdLst>
              <a:gd name="textAreaLeft" fmla="*/ 0 w 4726080"/>
              <a:gd name="textAreaRight" fmla="*/ 4726440 w 4726080"/>
              <a:gd name="textAreaTop" fmla="*/ 0 h 4726080"/>
              <a:gd name="textAreaBottom" fmla="*/ 4726440 h 4726080"/>
            </a:gdLst>
            <a:ahLst/>
            <a:rect l="textAreaLeft" t="textAreaTop" r="textAreaRight" b="textAreaBottom"/>
            <a:pathLst>
              <a:path w="4726328" h="4726328">
                <a:moveTo>
                  <a:pt x="0" y="0"/>
                </a:moveTo>
                <a:lnTo>
                  <a:pt x="4726329" y="0"/>
                </a:lnTo>
                <a:lnTo>
                  <a:pt x="4726329" y="4726329"/>
                </a:lnTo>
                <a:lnTo>
                  <a:pt x="0" y="472632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Box 8"/>
          <p:cNvSpPr/>
          <p:nvPr/>
        </p:nvSpPr>
        <p:spPr>
          <a:xfrm>
            <a:off x="2286000" y="5577840"/>
            <a:ext cx="13715640" cy="88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6999"/>
              </a:lnSpc>
            </a:pPr>
            <a:r>
              <a:rPr b="0" lang="en-US" sz="4800" spc="66" strike="noStrike">
                <a:solidFill>
                  <a:srgbClr val="000000"/>
                </a:solidFill>
                <a:latin typeface="Sniglet"/>
                <a:ea typeface="Sniglet"/>
              </a:rPr>
              <a:t>Anna Puteine and Krystyna Lopatych</a:t>
            </a:r>
            <a:endParaRPr b="0" lang="ru-RU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Box 9"/>
          <p:cNvSpPr/>
          <p:nvPr/>
        </p:nvSpPr>
        <p:spPr>
          <a:xfrm>
            <a:off x="2400120" y="2199960"/>
            <a:ext cx="13499640" cy="241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9001"/>
              </a:lnSpc>
            </a:pPr>
            <a:r>
              <a:rPr b="1" lang="en-US" sz="20000" spc="-1" strike="noStrike">
                <a:solidFill>
                  <a:srgbClr val="000000"/>
                </a:solidFill>
                <a:latin typeface="Marhey Bold"/>
                <a:ea typeface="Marhey Bold"/>
              </a:rPr>
              <a:t>After Us</a:t>
            </a:r>
            <a:endParaRPr b="0" lang="ru-RU" sz="20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9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Box 2"/>
          <p:cNvSpPr/>
          <p:nvPr/>
        </p:nvSpPr>
        <p:spPr>
          <a:xfrm>
            <a:off x="3291840" y="914400"/>
            <a:ext cx="12618360" cy="83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6599"/>
              </a:lnSpc>
            </a:pPr>
            <a:r>
              <a:rPr b="0" lang="en-US" sz="5600" spc="-1" strike="noStrike">
                <a:solidFill>
                  <a:srgbClr val="000000"/>
                </a:solidFill>
                <a:latin typeface="Marhey"/>
                <a:ea typeface="Marhey"/>
              </a:rPr>
              <a:t>The Setting and Core Idea</a:t>
            </a:r>
            <a:endParaRPr b="0" lang="ru-RU" sz="5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Box 3"/>
          <p:cNvSpPr/>
          <p:nvPr/>
        </p:nvSpPr>
        <p:spPr>
          <a:xfrm>
            <a:off x="3840480" y="2468880"/>
            <a:ext cx="11886840" cy="38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500040" indent="-380160" defTabSz="914400">
              <a:lnSpc>
                <a:spcPts val="2991"/>
              </a:lnSpc>
              <a:spcAft>
                <a:spcPts val="794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300" spc="21" strike="noStrike">
                <a:solidFill>
                  <a:srgbClr val="000000"/>
                </a:solidFill>
                <a:latin typeface="Sniglet"/>
                <a:ea typeface="Sniglet"/>
              </a:rPr>
              <a:t>The game takes place several decades after a collapse caused by overconsumption and pollution.</a:t>
            </a:r>
            <a:endParaRPr b="0" lang="ru-RU" sz="2300" spc="-1" strike="noStrike">
              <a:solidFill>
                <a:srgbClr val="000000"/>
              </a:solidFill>
              <a:latin typeface="Arial"/>
            </a:endParaRPr>
          </a:p>
          <a:p>
            <a:pPr marL="500040" indent="-380160" defTabSz="914400">
              <a:lnSpc>
                <a:spcPts val="2991"/>
              </a:lnSpc>
              <a:spcAft>
                <a:spcPts val="794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300" spc="21" strike="noStrike">
                <a:solidFill>
                  <a:srgbClr val="000000"/>
                </a:solidFill>
                <a:latin typeface="Sniglet"/>
                <a:ea typeface="Sniglet"/>
              </a:rPr>
              <a:t>Products were replaced instead of repaired, and waste piled up faster than nature could absorb it.</a:t>
            </a:r>
            <a:endParaRPr b="0" lang="ru-RU" sz="2300" spc="-1" strike="noStrike">
              <a:solidFill>
                <a:srgbClr val="000000"/>
              </a:solidFill>
              <a:latin typeface="Arial"/>
            </a:endParaRPr>
          </a:p>
          <a:p>
            <a:pPr marL="500040" indent="-380160" defTabSz="914400">
              <a:lnSpc>
                <a:spcPts val="2991"/>
              </a:lnSpc>
              <a:spcAft>
                <a:spcPts val="794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300" spc="21" strike="noStrike">
                <a:solidFill>
                  <a:srgbClr val="000000"/>
                </a:solidFill>
                <a:latin typeface="Sniglet"/>
                <a:ea typeface="Sniglet"/>
              </a:rPr>
              <a:t>The player is one of the few survivors and starts with almost nothing.</a:t>
            </a:r>
            <a:endParaRPr b="0" lang="ru-RU" sz="2300" spc="-1" strike="noStrike">
              <a:solidFill>
                <a:srgbClr val="000000"/>
              </a:solidFill>
              <a:latin typeface="Arial"/>
            </a:endParaRPr>
          </a:p>
          <a:p>
            <a:pPr marL="500040" indent="-380160" defTabSz="914400">
              <a:lnSpc>
                <a:spcPts val="2991"/>
              </a:lnSpc>
              <a:spcAft>
                <a:spcPts val="794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300" spc="21" strike="noStrike">
                <a:solidFill>
                  <a:srgbClr val="000000"/>
                </a:solidFill>
                <a:latin typeface="Sniglet"/>
                <a:ea typeface="Sniglet"/>
              </a:rPr>
              <a:t>The surroundings are full of plastic bottles, packaging, broken electronics, old clothes, and natural materials that people rarely think of as useful.</a:t>
            </a:r>
            <a:endParaRPr b="0" lang="ru-RU" sz="2300" spc="-1" strike="noStrike">
              <a:solidFill>
                <a:srgbClr val="000000"/>
              </a:solidFill>
              <a:latin typeface="Arial"/>
            </a:endParaRPr>
          </a:p>
          <a:p>
            <a:pPr marL="500040" indent="-380160" defTabSz="914400">
              <a:lnSpc>
                <a:spcPts val="2991"/>
              </a:lnSpc>
              <a:spcAft>
                <a:spcPts val="794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300" spc="21" strike="noStrike">
                <a:solidFill>
                  <a:srgbClr val="000000"/>
                </a:solidFill>
                <a:latin typeface="Sniglet"/>
                <a:ea typeface="Sniglet"/>
              </a:rPr>
              <a:t>Every item raises the same question: is it waste or a resource? The answer depends on what the player knows.</a:t>
            </a:r>
            <a:endParaRPr b="0" lang="ru-RU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Freeform 5"/>
          <p:cNvSpPr/>
          <p:nvPr/>
        </p:nvSpPr>
        <p:spPr>
          <a:xfrm>
            <a:off x="14993280" y="6819480"/>
            <a:ext cx="4531680" cy="4201920"/>
          </a:xfrm>
          <a:custGeom>
            <a:avLst/>
            <a:gdLst>
              <a:gd name="textAreaLeft" fmla="*/ 0 w 4531680"/>
              <a:gd name="textAreaRight" fmla="*/ 4532040 w 4531680"/>
              <a:gd name="textAreaTop" fmla="*/ 0 h 4201920"/>
              <a:gd name="textAreaBottom" fmla="*/ 4202280 h 4201920"/>
            </a:gdLst>
            <a:ahLst/>
            <a:rect l="textAreaLeft" t="textAreaTop" r="textAreaRight" b="textAreaBottom"/>
            <a:pathLst>
              <a:path w="4532053" h="4202449">
                <a:moveTo>
                  <a:pt x="0" y="0"/>
                </a:moveTo>
                <a:lnTo>
                  <a:pt x="4532052" y="0"/>
                </a:lnTo>
                <a:lnTo>
                  <a:pt x="4532052" y="4202449"/>
                </a:lnTo>
                <a:lnTo>
                  <a:pt x="0" y="420244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Freeform 6"/>
          <p:cNvSpPr/>
          <p:nvPr/>
        </p:nvSpPr>
        <p:spPr>
          <a:xfrm>
            <a:off x="8624520" y="7247520"/>
            <a:ext cx="5443920" cy="4305600"/>
          </a:xfrm>
          <a:custGeom>
            <a:avLst/>
            <a:gdLst>
              <a:gd name="textAreaLeft" fmla="*/ 0 w 5443920"/>
              <a:gd name="textAreaRight" fmla="*/ 5444280 w 5443920"/>
              <a:gd name="textAreaTop" fmla="*/ 0 h 4305600"/>
              <a:gd name="textAreaBottom" fmla="*/ 4305960 h 4305600"/>
            </a:gdLst>
            <a:ahLst/>
            <a:rect l="textAreaLeft" t="textAreaTop" r="textAreaRight" b="textAreaBottom"/>
            <a:pathLst>
              <a:path w="5444403" h="4306028">
                <a:moveTo>
                  <a:pt x="0" y="0"/>
                </a:moveTo>
                <a:lnTo>
                  <a:pt x="5444403" y="0"/>
                </a:lnTo>
                <a:lnTo>
                  <a:pt x="5444403" y="4306027"/>
                </a:lnTo>
                <a:lnTo>
                  <a:pt x="0" y="430602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Freeform 7"/>
          <p:cNvSpPr/>
          <p:nvPr/>
        </p:nvSpPr>
        <p:spPr>
          <a:xfrm flipH="1">
            <a:off x="15880320" y="-268200"/>
            <a:ext cx="3794760" cy="4084560"/>
          </a:xfrm>
          <a:custGeom>
            <a:avLst/>
            <a:gdLst>
              <a:gd name="textAreaLeft" fmla="*/ -360 w 3794760"/>
              <a:gd name="textAreaRight" fmla="*/ 3794760 w 3794760"/>
              <a:gd name="textAreaTop" fmla="*/ 0 h 4084560"/>
              <a:gd name="textAreaBottom" fmla="*/ 4084920 h 4084560"/>
            </a:gdLst>
            <a:ahLst/>
            <a:rect l="textAreaLeft" t="textAreaTop" r="textAreaRight" b="textAreaBottom"/>
            <a:pathLst>
              <a:path w="3795213" h="4084867">
                <a:moveTo>
                  <a:pt x="3795213" y="0"/>
                </a:moveTo>
                <a:lnTo>
                  <a:pt x="0" y="0"/>
                </a:lnTo>
                <a:lnTo>
                  <a:pt x="0" y="4084867"/>
                </a:lnTo>
                <a:lnTo>
                  <a:pt x="3795213" y="4084867"/>
                </a:lnTo>
                <a:lnTo>
                  <a:pt x="3795213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Freeform 9"/>
          <p:cNvSpPr/>
          <p:nvPr/>
        </p:nvSpPr>
        <p:spPr>
          <a:xfrm>
            <a:off x="-1002600" y="-1299600"/>
            <a:ext cx="4062600" cy="4062600"/>
          </a:xfrm>
          <a:custGeom>
            <a:avLst/>
            <a:gdLst>
              <a:gd name="textAreaLeft" fmla="*/ 0 w 4062600"/>
              <a:gd name="textAreaRight" fmla="*/ 4062960 w 4062600"/>
              <a:gd name="textAreaTop" fmla="*/ 0 h 4062600"/>
              <a:gd name="textAreaBottom" fmla="*/ 4062960 h 4062600"/>
            </a:gdLst>
            <a:ahLst/>
            <a:rect l="textAreaLeft" t="textAreaTop" r="textAreaRight" b="textAreaBottom"/>
            <a:pathLst>
              <a:path w="4062813" h="4062813">
                <a:moveTo>
                  <a:pt x="0" y="0"/>
                </a:moveTo>
                <a:lnTo>
                  <a:pt x="4062812" y="0"/>
                </a:lnTo>
                <a:lnTo>
                  <a:pt x="4062812" y="4062813"/>
                </a:lnTo>
                <a:lnTo>
                  <a:pt x="0" y="406281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9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Box 2"/>
          <p:cNvSpPr/>
          <p:nvPr/>
        </p:nvSpPr>
        <p:spPr>
          <a:xfrm>
            <a:off x="3291840" y="914400"/>
            <a:ext cx="12618360" cy="83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6599"/>
              </a:lnSpc>
            </a:pPr>
            <a:r>
              <a:rPr b="0" lang="en-US" sz="5600" spc="-1" strike="noStrike">
                <a:solidFill>
                  <a:srgbClr val="000000"/>
                </a:solidFill>
                <a:latin typeface="Marhey"/>
                <a:ea typeface="Marhey"/>
              </a:rPr>
              <a:t>Real Green Inventions</a:t>
            </a:r>
            <a:endParaRPr b="0" lang="ru-RU" sz="5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Box 3"/>
          <p:cNvSpPr/>
          <p:nvPr/>
        </p:nvSpPr>
        <p:spPr>
          <a:xfrm>
            <a:off x="3840480" y="2377440"/>
            <a:ext cx="11886840" cy="454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500040" indent="-380160" defTabSz="914400">
              <a:lnSpc>
                <a:spcPts val="2730"/>
              </a:lnSpc>
              <a:spcAft>
                <a:spcPts val="723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100" spc="21" strike="noStrike">
                <a:solidFill>
                  <a:srgbClr val="000000"/>
                </a:solidFill>
                <a:latin typeface="Sniglet"/>
                <a:ea typeface="Sniglet"/>
              </a:rPr>
              <a:t>Most survival games use made-up crafting chains, like fire, then hammer, then axe. These teach nothing about the real world.</a:t>
            </a:r>
            <a:endParaRPr b="0" lang="ru-RU" sz="2100" spc="-1" strike="noStrike">
              <a:solidFill>
                <a:srgbClr val="000000"/>
              </a:solidFill>
              <a:latin typeface="Arial"/>
            </a:endParaRPr>
          </a:p>
          <a:p>
            <a:pPr marL="500040" indent="-380160" defTabSz="914400">
              <a:lnSpc>
                <a:spcPts val="2730"/>
              </a:lnSpc>
              <a:spcAft>
                <a:spcPts val="723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100" spc="21" strike="noStrike">
                <a:solidFill>
                  <a:srgbClr val="000000"/>
                </a:solidFill>
                <a:latin typeface="Sniglet"/>
                <a:ea typeface="Sniglet"/>
              </a:rPr>
              <a:t>In After Us, every recipe is based on a real green invention that is not widely known. The recipes are the main content of the game.</a:t>
            </a:r>
            <a:endParaRPr b="0" lang="ru-RU" sz="2100" spc="-1" strike="noStrike">
              <a:solidFill>
                <a:srgbClr val="000000"/>
              </a:solidFill>
              <a:latin typeface="Arial"/>
            </a:endParaRPr>
          </a:p>
          <a:p>
            <a:pPr marL="119880" defTabSz="914400">
              <a:lnSpc>
                <a:spcPts val="2730"/>
              </a:lnSpc>
              <a:spcAft>
                <a:spcPts val="723"/>
              </a:spcAft>
              <a:tabLst>
                <a:tab algn="l" pos="0"/>
              </a:tabLst>
            </a:pPr>
            <a:r>
              <a:rPr b="0" lang="en-US" sz="2100" spc="21" strike="noStrike">
                <a:solidFill>
                  <a:srgbClr val="000000"/>
                </a:solidFill>
                <a:latin typeface="Sniglet"/>
                <a:ea typeface="Sniglet"/>
              </a:rPr>
              <a:t>Examples:</a:t>
            </a:r>
            <a:endParaRPr b="0" lang="ru-RU" sz="2100" spc="-1" strike="noStrike">
              <a:solidFill>
                <a:srgbClr val="000000"/>
              </a:solidFill>
              <a:latin typeface="Arial"/>
            </a:endParaRPr>
          </a:p>
          <a:p>
            <a:pPr marL="950040" indent="-380160" defTabSz="914400">
              <a:lnSpc>
                <a:spcPts val="2730"/>
              </a:lnSpc>
              <a:spcAft>
                <a:spcPts val="723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100" spc="21" strike="noStrike">
                <a:solidFill>
                  <a:srgbClr val="000000"/>
                </a:solidFill>
                <a:latin typeface="Sniglet"/>
                <a:ea typeface="Sniglet"/>
              </a:rPr>
              <a:t>A plastic bottle of water left in the sun becomes a solar water disinfector</a:t>
            </a:r>
            <a:endParaRPr b="0" lang="ru-RU" sz="2100" spc="-1" strike="noStrike">
              <a:solidFill>
                <a:srgbClr val="000000"/>
              </a:solidFill>
              <a:latin typeface="Arial"/>
            </a:endParaRPr>
          </a:p>
          <a:p>
            <a:pPr marL="950040" indent="-380160" defTabSz="914400">
              <a:lnSpc>
                <a:spcPts val="2730"/>
              </a:lnSpc>
              <a:spcAft>
                <a:spcPts val="723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100" spc="21" strike="noStrike">
                <a:solidFill>
                  <a:srgbClr val="000000"/>
                </a:solidFill>
                <a:latin typeface="Sniglet"/>
                <a:ea typeface="Sniglet"/>
              </a:rPr>
              <a:t>Seaweed becomes edible packaging</a:t>
            </a:r>
            <a:endParaRPr b="0" lang="ru-RU" sz="2100" spc="-1" strike="noStrike">
              <a:solidFill>
                <a:srgbClr val="000000"/>
              </a:solidFill>
              <a:latin typeface="Arial"/>
            </a:endParaRPr>
          </a:p>
          <a:p>
            <a:pPr marL="950040" indent="-380160" defTabSz="914400">
              <a:lnSpc>
                <a:spcPts val="2730"/>
              </a:lnSpc>
              <a:spcAft>
                <a:spcPts val="723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100" spc="21" strike="noStrike">
                <a:solidFill>
                  <a:srgbClr val="000000"/>
                </a:solidFill>
                <a:latin typeface="Sniglet"/>
                <a:ea typeface="Sniglet"/>
              </a:rPr>
              <a:t>Waste and organic leftovers become bioplastics</a:t>
            </a:r>
            <a:endParaRPr b="0" lang="ru-RU" sz="2100" spc="-1" strike="noStrike">
              <a:solidFill>
                <a:srgbClr val="000000"/>
              </a:solidFill>
              <a:latin typeface="Arial"/>
            </a:endParaRPr>
          </a:p>
          <a:p>
            <a:pPr marL="950040" indent="-380160" defTabSz="914400">
              <a:lnSpc>
                <a:spcPts val="2730"/>
              </a:lnSpc>
              <a:spcAft>
                <a:spcPts val="723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100" spc="21" strike="noStrike">
                <a:solidFill>
                  <a:srgbClr val="000000"/>
                </a:solidFill>
                <a:latin typeface="Sniglet"/>
                <a:ea typeface="Sniglet"/>
              </a:rPr>
              <a:t>Mushroom-based materials replace plastic</a:t>
            </a:r>
            <a:endParaRPr b="0" lang="ru-RU" sz="2100" spc="-1" strike="noStrike">
              <a:solidFill>
                <a:srgbClr val="000000"/>
              </a:solidFill>
              <a:latin typeface="Arial"/>
            </a:endParaRPr>
          </a:p>
          <a:p>
            <a:pPr marL="950040" indent="-380160" defTabSz="914400">
              <a:lnSpc>
                <a:spcPts val="2730"/>
              </a:lnSpc>
              <a:spcAft>
                <a:spcPts val="723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100" spc="21" strike="noStrike">
                <a:solidFill>
                  <a:srgbClr val="000000"/>
                </a:solidFill>
                <a:latin typeface="Sniglet"/>
                <a:ea typeface="Sniglet"/>
              </a:rPr>
              <a:t>Composting turns leftovers into soil for growing food</a:t>
            </a:r>
            <a:endParaRPr b="0" lang="ru-RU" sz="2100" spc="-1" strike="noStrike">
              <a:solidFill>
                <a:srgbClr val="000000"/>
              </a:solidFill>
              <a:latin typeface="Arial"/>
            </a:endParaRPr>
          </a:p>
          <a:p>
            <a:pPr marL="500040" indent="-380160" defTabSz="914400">
              <a:lnSpc>
                <a:spcPts val="2730"/>
              </a:lnSpc>
              <a:spcAft>
                <a:spcPts val="723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100" spc="21" strike="noStrike">
                <a:solidFill>
                  <a:srgbClr val="000000"/>
                </a:solidFill>
                <a:latin typeface="Sniglet"/>
                <a:ea typeface="Sniglet"/>
              </a:rPr>
              <a:t>Recipes are simplified for gameplay, but the ideas behind them are real.</a:t>
            </a:r>
            <a:endParaRPr b="0" lang="ru-RU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Freeform 4"/>
          <p:cNvSpPr/>
          <p:nvPr/>
        </p:nvSpPr>
        <p:spPr>
          <a:xfrm>
            <a:off x="5870880" y="7747200"/>
            <a:ext cx="4155120" cy="3021840"/>
          </a:xfrm>
          <a:custGeom>
            <a:avLst/>
            <a:gdLst>
              <a:gd name="textAreaLeft" fmla="*/ 0 w 4155120"/>
              <a:gd name="textAreaRight" fmla="*/ 4155480 w 4155120"/>
              <a:gd name="textAreaTop" fmla="*/ 0 h 3021840"/>
              <a:gd name="textAreaBottom" fmla="*/ 3022200 h 3021840"/>
            </a:gdLst>
            <a:ahLst/>
            <a:rect l="textAreaLeft" t="textAreaTop" r="textAreaRight" b="textAreaBottom"/>
            <a:pathLst>
              <a:path w="4155574" h="3022236">
                <a:moveTo>
                  <a:pt x="0" y="0"/>
                </a:moveTo>
                <a:lnTo>
                  <a:pt x="4155574" y="0"/>
                </a:lnTo>
                <a:lnTo>
                  <a:pt x="4155574" y="3022236"/>
                </a:lnTo>
                <a:lnTo>
                  <a:pt x="0" y="302223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Freeform 5"/>
          <p:cNvSpPr/>
          <p:nvPr/>
        </p:nvSpPr>
        <p:spPr>
          <a:xfrm>
            <a:off x="-768600" y="-146880"/>
            <a:ext cx="3594600" cy="3332880"/>
          </a:xfrm>
          <a:custGeom>
            <a:avLst/>
            <a:gdLst>
              <a:gd name="textAreaLeft" fmla="*/ 0 w 3594600"/>
              <a:gd name="textAreaRight" fmla="*/ 3594960 w 3594600"/>
              <a:gd name="textAreaTop" fmla="*/ 0 h 3332880"/>
              <a:gd name="textAreaBottom" fmla="*/ 3333240 h 3332880"/>
            </a:gdLst>
            <a:ahLst/>
            <a:rect l="textAreaLeft" t="textAreaTop" r="textAreaRight" b="textAreaBottom"/>
            <a:pathLst>
              <a:path w="3594853" h="3333409">
                <a:moveTo>
                  <a:pt x="0" y="0"/>
                </a:moveTo>
                <a:lnTo>
                  <a:pt x="3594854" y="0"/>
                </a:lnTo>
                <a:lnTo>
                  <a:pt x="3594854" y="3333410"/>
                </a:lnTo>
                <a:lnTo>
                  <a:pt x="0" y="333341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Freeform 7"/>
          <p:cNvSpPr/>
          <p:nvPr/>
        </p:nvSpPr>
        <p:spPr>
          <a:xfrm flipH="1">
            <a:off x="15880320" y="-268200"/>
            <a:ext cx="3794760" cy="4084560"/>
          </a:xfrm>
          <a:custGeom>
            <a:avLst/>
            <a:gdLst>
              <a:gd name="textAreaLeft" fmla="*/ -360 w 3794760"/>
              <a:gd name="textAreaRight" fmla="*/ 3794760 w 3794760"/>
              <a:gd name="textAreaTop" fmla="*/ 0 h 4084560"/>
              <a:gd name="textAreaBottom" fmla="*/ 4084920 h 4084560"/>
            </a:gdLst>
            <a:ahLst/>
            <a:rect l="textAreaLeft" t="textAreaTop" r="textAreaRight" b="textAreaBottom"/>
            <a:pathLst>
              <a:path w="3795213" h="4084867">
                <a:moveTo>
                  <a:pt x="3795213" y="0"/>
                </a:moveTo>
                <a:lnTo>
                  <a:pt x="0" y="0"/>
                </a:lnTo>
                <a:lnTo>
                  <a:pt x="0" y="4084867"/>
                </a:lnTo>
                <a:lnTo>
                  <a:pt x="3795213" y="4084867"/>
                </a:lnTo>
                <a:lnTo>
                  <a:pt x="3795213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Freeform 9"/>
          <p:cNvSpPr/>
          <p:nvPr/>
        </p:nvSpPr>
        <p:spPr>
          <a:xfrm>
            <a:off x="-236160" y="7227000"/>
            <a:ext cx="4062600" cy="4062600"/>
          </a:xfrm>
          <a:custGeom>
            <a:avLst/>
            <a:gdLst>
              <a:gd name="textAreaLeft" fmla="*/ 0 w 4062600"/>
              <a:gd name="textAreaRight" fmla="*/ 4062960 w 4062600"/>
              <a:gd name="textAreaTop" fmla="*/ 0 h 4062600"/>
              <a:gd name="textAreaBottom" fmla="*/ 4062960 h 4062600"/>
            </a:gdLst>
            <a:ahLst/>
            <a:rect l="textAreaLeft" t="textAreaTop" r="textAreaRight" b="textAreaBottom"/>
            <a:pathLst>
              <a:path w="4062813" h="4062813">
                <a:moveTo>
                  <a:pt x="0" y="0"/>
                </a:moveTo>
                <a:lnTo>
                  <a:pt x="4062813" y="0"/>
                </a:lnTo>
                <a:lnTo>
                  <a:pt x="4062813" y="4062812"/>
                </a:lnTo>
                <a:lnTo>
                  <a:pt x="0" y="406281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9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Box 2"/>
          <p:cNvSpPr/>
          <p:nvPr/>
        </p:nvSpPr>
        <p:spPr>
          <a:xfrm>
            <a:off x="3291840" y="914400"/>
            <a:ext cx="12618360" cy="83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6599"/>
              </a:lnSpc>
            </a:pPr>
            <a:r>
              <a:rPr b="0" lang="en-US" sz="5600" spc="-1" strike="noStrike">
                <a:solidFill>
                  <a:srgbClr val="000000"/>
                </a:solidFill>
                <a:latin typeface="Marhey"/>
                <a:ea typeface="Marhey"/>
              </a:rPr>
              <a:t>Social Good Theme</a:t>
            </a:r>
            <a:endParaRPr b="0" lang="ru-RU" sz="5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Box 3"/>
          <p:cNvSpPr/>
          <p:nvPr/>
        </p:nvSpPr>
        <p:spPr>
          <a:xfrm>
            <a:off x="4389120" y="2468880"/>
            <a:ext cx="11429640" cy="517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500040" indent="-380160" defTabSz="914400">
              <a:lnSpc>
                <a:spcPts val="3121"/>
              </a:lnSpc>
              <a:spcAft>
                <a:spcPts val="828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400" spc="21" strike="noStrike">
                <a:solidFill>
                  <a:srgbClr val="000000"/>
                </a:solidFill>
                <a:latin typeface="Sniglet"/>
                <a:ea typeface="Sniglet"/>
              </a:rPr>
              <a:t>Everyone produces waste every day, but climate change and pollution feel too big and distant to be personal. We wanted a game that connects one small decision to its long-term result.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marL="500040" indent="-380160" defTabSz="914400">
              <a:lnSpc>
                <a:spcPts val="3121"/>
              </a:lnSpc>
              <a:spcAft>
                <a:spcPts val="828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400" spc="21" strike="noStrike">
                <a:solidFill>
                  <a:srgbClr val="000000"/>
                </a:solidFill>
                <a:latin typeface="Sniglet"/>
                <a:ea typeface="Sniglet"/>
              </a:rPr>
              <a:t>What inspired us most were real inventions that show how valuable "trash" can be. Most people have never heard of them.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marL="500040" indent="-380160" defTabSz="914400">
              <a:lnSpc>
                <a:spcPts val="3121"/>
              </a:lnSpc>
              <a:spcAft>
                <a:spcPts val="828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400" spc="21" strike="noStrike">
                <a:solidFill>
                  <a:srgbClr val="000000"/>
                </a:solidFill>
                <a:latin typeface="Sniglet"/>
                <a:ea typeface="Sniglet"/>
              </a:rPr>
              <a:t>Main audience: teenagers and young adults (about 15-25), who will live with the consequences the longest. Casual gamers are the second audience, so the game is a fun survival game first, not a lecture.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marL="500040" indent="-380160" defTabSz="914400">
              <a:lnSpc>
                <a:spcPts val="3121"/>
              </a:lnSpc>
              <a:spcAft>
                <a:spcPts val="828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400" spc="21" strike="noStrike">
                <a:solidFill>
                  <a:srgbClr val="000000"/>
                </a:solidFill>
                <a:latin typeface="Sniglet"/>
                <a:ea typeface="Sniglet"/>
              </a:rPr>
              <a:t>Main UN goal: SDG 12 Responsible Consumption and Production.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marL="500040" indent="-380160" defTabSz="914400">
              <a:lnSpc>
                <a:spcPts val="3121"/>
              </a:lnSpc>
              <a:spcAft>
                <a:spcPts val="828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400" spc="21" strike="noStrike">
                <a:solidFill>
                  <a:srgbClr val="000000"/>
                </a:solidFill>
                <a:latin typeface="Sniglet"/>
                <a:ea typeface="Sniglet"/>
              </a:rPr>
              <a:t>Also related: SDG 13 Climate Action, SDG 3 Good Health, SDG 14 and 15 Life Below Water and on Land, and SDG 11 Sustainable Cities.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Freeform 5"/>
          <p:cNvSpPr/>
          <p:nvPr/>
        </p:nvSpPr>
        <p:spPr>
          <a:xfrm>
            <a:off x="5930640" y="8532360"/>
            <a:ext cx="4155120" cy="3021840"/>
          </a:xfrm>
          <a:custGeom>
            <a:avLst/>
            <a:gdLst>
              <a:gd name="textAreaLeft" fmla="*/ 0 w 4155120"/>
              <a:gd name="textAreaRight" fmla="*/ 4155480 w 4155120"/>
              <a:gd name="textAreaTop" fmla="*/ 0 h 3021840"/>
              <a:gd name="textAreaBottom" fmla="*/ 3022200 h 3021840"/>
            </a:gdLst>
            <a:ahLst/>
            <a:rect l="textAreaLeft" t="textAreaTop" r="textAreaRight" b="textAreaBottom"/>
            <a:pathLst>
              <a:path w="4155574" h="3022236">
                <a:moveTo>
                  <a:pt x="0" y="0"/>
                </a:moveTo>
                <a:lnTo>
                  <a:pt x="4155574" y="0"/>
                </a:lnTo>
                <a:lnTo>
                  <a:pt x="4155574" y="3022236"/>
                </a:lnTo>
                <a:lnTo>
                  <a:pt x="0" y="302223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Freeform 7"/>
          <p:cNvSpPr/>
          <p:nvPr/>
        </p:nvSpPr>
        <p:spPr>
          <a:xfrm>
            <a:off x="-2722320" y="6379200"/>
            <a:ext cx="5443920" cy="4305600"/>
          </a:xfrm>
          <a:custGeom>
            <a:avLst/>
            <a:gdLst>
              <a:gd name="textAreaLeft" fmla="*/ 0 w 5443920"/>
              <a:gd name="textAreaRight" fmla="*/ 5444280 w 5443920"/>
              <a:gd name="textAreaTop" fmla="*/ 0 h 4305600"/>
              <a:gd name="textAreaBottom" fmla="*/ 4305960 h 4305600"/>
            </a:gdLst>
            <a:ahLst/>
            <a:rect l="textAreaLeft" t="textAreaTop" r="textAreaRight" b="textAreaBottom"/>
            <a:pathLst>
              <a:path w="5444403" h="4306028">
                <a:moveTo>
                  <a:pt x="0" y="0"/>
                </a:moveTo>
                <a:lnTo>
                  <a:pt x="5444402" y="0"/>
                </a:lnTo>
                <a:lnTo>
                  <a:pt x="5444402" y="4306028"/>
                </a:lnTo>
                <a:lnTo>
                  <a:pt x="0" y="430602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Freeform 8"/>
          <p:cNvSpPr/>
          <p:nvPr/>
        </p:nvSpPr>
        <p:spPr>
          <a:xfrm flipH="1">
            <a:off x="-1438560" y="0"/>
            <a:ext cx="3794760" cy="4084560"/>
          </a:xfrm>
          <a:custGeom>
            <a:avLst/>
            <a:gdLst>
              <a:gd name="textAreaLeft" fmla="*/ -360 w 3794760"/>
              <a:gd name="textAreaRight" fmla="*/ 3794760 w 3794760"/>
              <a:gd name="textAreaTop" fmla="*/ 0 h 4084560"/>
              <a:gd name="textAreaBottom" fmla="*/ 4084920 h 4084560"/>
            </a:gdLst>
            <a:ahLst/>
            <a:rect l="textAreaLeft" t="textAreaTop" r="textAreaRight" b="textAreaBottom"/>
            <a:pathLst>
              <a:path w="3795213" h="4084867">
                <a:moveTo>
                  <a:pt x="3795213" y="0"/>
                </a:moveTo>
                <a:lnTo>
                  <a:pt x="0" y="0"/>
                </a:lnTo>
                <a:lnTo>
                  <a:pt x="0" y="4084867"/>
                </a:lnTo>
                <a:lnTo>
                  <a:pt x="3795213" y="4084867"/>
                </a:lnTo>
                <a:lnTo>
                  <a:pt x="3795213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9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Box 2"/>
          <p:cNvSpPr/>
          <p:nvPr/>
        </p:nvSpPr>
        <p:spPr>
          <a:xfrm>
            <a:off x="4297680" y="914400"/>
            <a:ext cx="11429640" cy="83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6599"/>
              </a:lnSpc>
            </a:pPr>
            <a:r>
              <a:rPr b="0" lang="en-US" sz="5600" spc="-1" strike="noStrike">
                <a:solidFill>
                  <a:srgbClr val="000000"/>
                </a:solidFill>
                <a:latin typeface="Marhey"/>
                <a:ea typeface="Marhey"/>
              </a:rPr>
              <a:t>Every Item Is a Decision</a:t>
            </a:r>
            <a:endParaRPr b="0" lang="ru-RU" sz="5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Box 3"/>
          <p:cNvSpPr/>
          <p:nvPr/>
        </p:nvSpPr>
        <p:spPr>
          <a:xfrm>
            <a:off x="4480560" y="2468880"/>
            <a:ext cx="11429640" cy="40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500040" indent="-380160" defTabSz="914400">
              <a:lnSpc>
                <a:spcPts val="2860"/>
              </a:lnSpc>
              <a:spcAft>
                <a:spcPts val="760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200" spc="21" strike="noStrike">
                <a:solidFill>
                  <a:srgbClr val="000000"/>
                </a:solidFill>
                <a:latin typeface="Sniglet"/>
                <a:ea typeface="Sniglet"/>
              </a:rPr>
              <a:t>The player can keep an item, reuse it, repair it, recycle it, or transform it. Throwing it away or burning it is also possible, and it is the fastest option.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  <a:p>
            <a:pPr marL="500040" indent="-380160" defTabSz="914400">
              <a:lnSpc>
                <a:spcPts val="2860"/>
              </a:lnSpc>
              <a:spcAft>
                <a:spcPts val="760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200" spc="21" strike="noStrike">
                <a:solidFill>
                  <a:srgbClr val="000000"/>
                </a:solidFill>
                <a:latin typeface="Sniglet"/>
                <a:ea typeface="Sniglet"/>
              </a:rPr>
              <a:t>Transforming uses the real green inventions. It needs knowledge, materials, and a workbench, but it has the highest long-term payoff.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  <a:p>
            <a:pPr marL="500040" indent="-380160" defTabSz="914400">
              <a:lnSpc>
                <a:spcPts val="2860"/>
              </a:lnSpc>
              <a:spcAft>
                <a:spcPts val="760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200" spc="21" strike="noStrike">
                <a:solidFill>
                  <a:srgbClr val="000000"/>
                </a:solidFill>
                <a:latin typeface="Sniglet"/>
                <a:ea typeface="Sniglet"/>
              </a:rPr>
              <a:t>Discarding is quick but adds pollution, and recycling is slow and needs energy. The player has to decide what the situation needs now and later.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  <a:p>
            <a:pPr marL="500040" indent="-380160" defTabSz="914400">
              <a:lnSpc>
                <a:spcPts val="2860"/>
              </a:lnSpc>
              <a:spcAft>
                <a:spcPts val="760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200" spc="21" strike="noStrike">
                <a:solidFill>
                  <a:srgbClr val="000000"/>
                </a:solidFill>
                <a:latin typeface="Sniglet"/>
                <a:ea typeface="Sniglet"/>
              </a:rPr>
              <a:t>The world reacts right away: burning waste darkens the sky and worsens the air, and cleaning an area makes the water and ground look healthier.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  <a:p>
            <a:pPr marL="500040" indent="-380160" defTabSz="914400">
              <a:lnSpc>
                <a:spcPts val="2860"/>
              </a:lnSpc>
              <a:spcAft>
                <a:spcPts val="760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200" spc="21" strike="noStrike">
                <a:solidFill>
                  <a:srgbClr val="000000"/>
                </a:solidFill>
                <a:latin typeface="Sniglet"/>
                <a:ea typeface="Sniglet"/>
              </a:rPr>
              <a:t>Sometimes the player needs a material that was thrown away earlier, such as a plastic bottle for water disinfection.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Freeform 5"/>
          <p:cNvSpPr/>
          <p:nvPr/>
        </p:nvSpPr>
        <p:spPr>
          <a:xfrm>
            <a:off x="7413120" y="8164800"/>
            <a:ext cx="4155120" cy="3021840"/>
          </a:xfrm>
          <a:custGeom>
            <a:avLst/>
            <a:gdLst>
              <a:gd name="textAreaLeft" fmla="*/ 0 w 4155120"/>
              <a:gd name="textAreaRight" fmla="*/ 4155480 w 4155120"/>
              <a:gd name="textAreaTop" fmla="*/ 0 h 3021840"/>
              <a:gd name="textAreaBottom" fmla="*/ 3022200 h 3021840"/>
            </a:gdLst>
            <a:ahLst/>
            <a:rect l="textAreaLeft" t="textAreaTop" r="textAreaRight" b="textAreaBottom"/>
            <a:pathLst>
              <a:path w="4155574" h="3022236">
                <a:moveTo>
                  <a:pt x="0" y="0"/>
                </a:moveTo>
                <a:lnTo>
                  <a:pt x="4155573" y="0"/>
                </a:lnTo>
                <a:lnTo>
                  <a:pt x="4155573" y="3022236"/>
                </a:lnTo>
                <a:lnTo>
                  <a:pt x="0" y="302223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Freeform 6"/>
          <p:cNvSpPr/>
          <p:nvPr/>
        </p:nvSpPr>
        <p:spPr>
          <a:xfrm>
            <a:off x="16369560" y="6482880"/>
            <a:ext cx="4531680" cy="4201920"/>
          </a:xfrm>
          <a:custGeom>
            <a:avLst/>
            <a:gdLst>
              <a:gd name="textAreaLeft" fmla="*/ 0 w 4531680"/>
              <a:gd name="textAreaRight" fmla="*/ 4532040 w 4531680"/>
              <a:gd name="textAreaTop" fmla="*/ 0 h 4201920"/>
              <a:gd name="textAreaBottom" fmla="*/ 4202280 h 4201920"/>
            </a:gdLst>
            <a:ahLst/>
            <a:rect l="textAreaLeft" t="textAreaTop" r="textAreaRight" b="textAreaBottom"/>
            <a:pathLst>
              <a:path w="4532053" h="4202449">
                <a:moveTo>
                  <a:pt x="0" y="0"/>
                </a:moveTo>
                <a:lnTo>
                  <a:pt x="4532052" y="0"/>
                </a:lnTo>
                <a:lnTo>
                  <a:pt x="4532052" y="4202449"/>
                </a:lnTo>
                <a:lnTo>
                  <a:pt x="0" y="420244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Freeform 7"/>
          <p:cNvSpPr/>
          <p:nvPr/>
        </p:nvSpPr>
        <p:spPr>
          <a:xfrm>
            <a:off x="0" y="0"/>
            <a:ext cx="4173120" cy="3300480"/>
          </a:xfrm>
          <a:custGeom>
            <a:avLst/>
            <a:gdLst>
              <a:gd name="textAreaLeft" fmla="*/ 0 w 4173120"/>
              <a:gd name="textAreaRight" fmla="*/ 4173480 w 4173120"/>
              <a:gd name="textAreaTop" fmla="*/ 0 h 3300480"/>
              <a:gd name="textAreaBottom" fmla="*/ 3300840 h 3300480"/>
            </a:gdLst>
            <a:ahLst/>
            <a:rect l="textAreaLeft" t="textAreaTop" r="textAreaRight" b="textAreaBottom"/>
            <a:pathLst>
              <a:path w="4173371" h="3300757">
                <a:moveTo>
                  <a:pt x="0" y="0"/>
                </a:moveTo>
                <a:lnTo>
                  <a:pt x="4173371" y="0"/>
                </a:lnTo>
                <a:lnTo>
                  <a:pt x="4173371" y="3300757"/>
                </a:lnTo>
                <a:lnTo>
                  <a:pt x="0" y="330075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Freeform 10"/>
          <p:cNvSpPr/>
          <p:nvPr/>
        </p:nvSpPr>
        <p:spPr>
          <a:xfrm>
            <a:off x="-1702440" y="7358760"/>
            <a:ext cx="4062600" cy="4062600"/>
          </a:xfrm>
          <a:custGeom>
            <a:avLst/>
            <a:gdLst>
              <a:gd name="textAreaLeft" fmla="*/ 0 w 4062600"/>
              <a:gd name="textAreaRight" fmla="*/ 4062960 w 4062600"/>
              <a:gd name="textAreaTop" fmla="*/ 0 h 4062600"/>
              <a:gd name="textAreaBottom" fmla="*/ 4062960 h 4062600"/>
            </a:gdLst>
            <a:ahLst/>
            <a:rect l="textAreaLeft" t="textAreaTop" r="textAreaRight" b="textAreaBottom"/>
            <a:pathLst>
              <a:path w="4062813" h="4062813">
                <a:moveTo>
                  <a:pt x="0" y="0"/>
                </a:moveTo>
                <a:lnTo>
                  <a:pt x="4062813" y="0"/>
                </a:lnTo>
                <a:lnTo>
                  <a:pt x="4062813" y="4062812"/>
                </a:lnTo>
                <a:lnTo>
                  <a:pt x="0" y="406281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9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Box 2"/>
          <p:cNvSpPr/>
          <p:nvPr/>
        </p:nvSpPr>
        <p:spPr>
          <a:xfrm>
            <a:off x="3291840" y="914400"/>
            <a:ext cx="12618360" cy="83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6599"/>
              </a:lnSpc>
            </a:pPr>
            <a:r>
              <a:rPr b="0" lang="en-US" sz="5600" spc="-1" strike="noStrike">
                <a:solidFill>
                  <a:srgbClr val="000000"/>
                </a:solidFill>
                <a:latin typeface="Marhey"/>
                <a:ea typeface="Marhey"/>
              </a:rPr>
              <a:t>How the Game Progresses</a:t>
            </a:r>
            <a:endParaRPr b="0" lang="ru-RU" sz="5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Box 3"/>
          <p:cNvSpPr/>
          <p:nvPr/>
        </p:nvSpPr>
        <p:spPr>
          <a:xfrm>
            <a:off x="3840480" y="2468880"/>
            <a:ext cx="11886840" cy="452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500040" indent="-380160" defTabSz="914400">
              <a:lnSpc>
                <a:spcPts val="2730"/>
              </a:lnSpc>
              <a:spcAft>
                <a:spcPts val="723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100" spc="21" strike="noStrike">
                <a:solidFill>
                  <a:srgbClr val="000000"/>
                </a:solidFill>
                <a:latin typeface="Sniglet"/>
                <a:ea typeface="Sniglet"/>
              </a:rPr>
              <a:t>The game has five levels, each about 15-30 minutes. The player explores, collects items, decides what to do with them, and builds toward the level goal.</a:t>
            </a:r>
            <a:endParaRPr b="0" lang="ru-RU" sz="2100" spc="-1" strike="noStrike">
              <a:solidFill>
                <a:srgbClr val="000000"/>
              </a:solidFill>
              <a:latin typeface="Arial"/>
            </a:endParaRPr>
          </a:p>
          <a:p>
            <a:pPr marL="500040" indent="-380160" defTabSz="914400">
              <a:lnSpc>
                <a:spcPts val="2730"/>
              </a:lnSpc>
              <a:spcAft>
                <a:spcPts val="723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100" spc="21" strike="noStrike">
                <a:solidFill>
                  <a:srgbClr val="000000"/>
                </a:solidFill>
                <a:latin typeface="Sniglet"/>
                <a:ea typeface="Sniglet"/>
              </a:rPr>
              <a:t>The player keeps hunger, thirst, and health above zero and watches air pollution and temperature.</a:t>
            </a:r>
            <a:endParaRPr b="0" lang="ru-RU" sz="2100" spc="-1" strike="noStrike">
              <a:solidFill>
                <a:srgbClr val="000000"/>
              </a:solidFill>
              <a:latin typeface="Arial"/>
            </a:endParaRPr>
          </a:p>
          <a:p>
            <a:pPr marL="500040" indent="-380160" defTabSz="914400">
              <a:lnSpc>
                <a:spcPts val="2730"/>
              </a:lnSpc>
              <a:spcAft>
                <a:spcPts val="723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100" spc="21" strike="noStrike">
                <a:solidFill>
                  <a:srgbClr val="000000"/>
                </a:solidFill>
                <a:latin typeface="Sniglet"/>
                <a:ea typeface="Sniglet"/>
              </a:rPr>
              <a:t>Recycling includes a short sorting mini-game, and better sorting returns more material.</a:t>
            </a:r>
            <a:endParaRPr b="0" lang="ru-RU" sz="2100" spc="-1" strike="noStrike">
              <a:solidFill>
                <a:srgbClr val="000000"/>
              </a:solidFill>
              <a:latin typeface="Arial"/>
            </a:endParaRPr>
          </a:p>
          <a:p>
            <a:pPr marL="500040" indent="-380160" defTabSz="914400">
              <a:lnSpc>
                <a:spcPts val="2730"/>
              </a:lnSpc>
              <a:spcAft>
                <a:spcPts val="723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100" spc="21" strike="noStrike">
                <a:solidFill>
                  <a:srgbClr val="000000"/>
                </a:solidFill>
                <a:latin typeface="Sniglet"/>
                <a:ea typeface="Sniglet"/>
              </a:rPr>
              <a:t>The first level teaches the basic loop with familiar plastic waste. Later levels add pollution, climate extremes, scarcity, and new materials, and they unlock more of the lesser-known inventions.</a:t>
            </a:r>
            <a:endParaRPr b="0" lang="ru-RU" sz="2100" spc="-1" strike="noStrike">
              <a:solidFill>
                <a:srgbClr val="000000"/>
              </a:solidFill>
              <a:latin typeface="Arial"/>
            </a:endParaRPr>
          </a:p>
          <a:p>
            <a:pPr marL="500040" indent="-380160" defTabSz="914400">
              <a:lnSpc>
                <a:spcPts val="2730"/>
              </a:lnSpc>
              <a:spcAft>
                <a:spcPts val="723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100" spc="21" strike="noStrike">
                <a:solidFill>
                  <a:srgbClr val="000000"/>
                </a:solidFill>
                <a:latin typeface="Sniglet"/>
                <a:ea typeface="Sniglet"/>
              </a:rPr>
              <a:t>In the final level, the player uses the methods learned along the way to build a small sustainable settlement with clean water, low-impact energy, food, and a working recycling loop. The world is improved, not completely fixed.</a:t>
            </a:r>
            <a:endParaRPr b="0" lang="ru-RU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Freeform 4"/>
          <p:cNvSpPr/>
          <p:nvPr/>
        </p:nvSpPr>
        <p:spPr>
          <a:xfrm>
            <a:off x="5870880" y="7747200"/>
            <a:ext cx="4155120" cy="3021840"/>
          </a:xfrm>
          <a:custGeom>
            <a:avLst/>
            <a:gdLst>
              <a:gd name="textAreaLeft" fmla="*/ 0 w 4155120"/>
              <a:gd name="textAreaRight" fmla="*/ 4155480 w 4155120"/>
              <a:gd name="textAreaTop" fmla="*/ 0 h 3021840"/>
              <a:gd name="textAreaBottom" fmla="*/ 3022200 h 3021840"/>
            </a:gdLst>
            <a:ahLst/>
            <a:rect l="textAreaLeft" t="textAreaTop" r="textAreaRight" b="textAreaBottom"/>
            <a:pathLst>
              <a:path w="4155574" h="3022236">
                <a:moveTo>
                  <a:pt x="0" y="0"/>
                </a:moveTo>
                <a:lnTo>
                  <a:pt x="4155574" y="0"/>
                </a:lnTo>
                <a:lnTo>
                  <a:pt x="4155574" y="3022236"/>
                </a:lnTo>
                <a:lnTo>
                  <a:pt x="0" y="302223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Freeform 5"/>
          <p:cNvSpPr/>
          <p:nvPr/>
        </p:nvSpPr>
        <p:spPr>
          <a:xfrm>
            <a:off x="-768600" y="-146880"/>
            <a:ext cx="3594600" cy="3332880"/>
          </a:xfrm>
          <a:custGeom>
            <a:avLst/>
            <a:gdLst>
              <a:gd name="textAreaLeft" fmla="*/ 0 w 3594600"/>
              <a:gd name="textAreaRight" fmla="*/ 3594960 w 3594600"/>
              <a:gd name="textAreaTop" fmla="*/ 0 h 3332880"/>
              <a:gd name="textAreaBottom" fmla="*/ 3333240 h 3332880"/>
            </a:gdLst>
            <a:ahLst/>
            <a:rect l="textAreaLeft" t="textAreaTop" r="textAreaRight" b="textAreaBottom"/>
            <a:pathLst>
              <a:path w="3594853" h="3333409">
                <a:moveTo>
                  <a:pt x="0" y="0"/>
                </a:moveTo>
                <a:lnTo>
                  <a:pt x="3594854" y="0"/>
                </a:lnTo>
                <a:lnTo>
                  <a:pt x="3594854" y="3333410"/>
                </a:lnTo>
                <a:lnTo>
                  <a:pt x="0" y="333341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Freeform 7"/>
          <p:cNvSpPr/>
          <p:nvPr/>
        </p:nvSpPr>
        <p:spPr>
          <a:xfrm flipH="1">
            <a:off x="15880320" y="-268200"/>
            <a:ext cx="3794760" cy="4084560"/>
          </a:xfrm>
          <a:custGeom>
            <a:avLst/>
            <a:gdLst>
              <a:gd name="textAreaLeft" fmla="*/ -360 w 3794760"/>
              <a:gd name="textAreaRight" fmla="*/ 3794760 w 3794760"/>
              <a:gd name="textAreaTop" fmla="*/ 0 h 4084560"/>
              <a:gd name="textAreaBottom" fmla="*/ 4084920 h 4084560"/>
            </a:gdLst>
            <a:ahLst/>
            <a:rect l="textAreaLeft" t="textAreaTop" r="textAreaRight" b="textAreaBottom"/>
            <a:pathLst>
              <a:path w="3795213" h="4084867">
                <a:moveTo>
                  <a:pt x="3795213" y="0"/>
                </a:moveTo>
                <a:lnTo>
                  <a:pt x="0" y="0"/>
                </a:lnTo>
                <a:lnTo>
                  <a:pt x="0" y="4084867"/>
                </a:lnTo>
                <a:lnTo>
                  <a:pt x="3795213" y="4084867"/>
                </a:lnTo>
                <a:lnTo>
                  <a:pt x="3795213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Freeform 9"/>
          <p:cNvSpPr/>
          <p:nvPr/>
        </p:nvSpPr>
        <p:spPr>
          <a:xfrm>
            <a:off x="-236160" y="7227000"/>
            <a:ext cx="4062600" cy="4062600"/>
          </a:xfrm>
          <a:custGeom>
            <a:avLst/>
            <a:gdLst>
              <a:gd name="textAreaLeft" fmla="*/ 0 w 4062600"/>
              <a:gd name="textAreaRight" fmla="*/ 4062960 w 4062600"/>
              <a:gd name="textAreaTop" fmla="*/ 0 h 4062600"/>
              <a:gd name="textAreaBottom" fmla="*/ 4062960 h 4062600"/>
            </a:gdLst>
            <a:ahLst/>
            <a:rect l="textAreaLeft" t="textAreaTop" r="textAreaRight" b="textAreaBottom"/>
            <a:pathLst>
              <a:path w="4062813" h="4062813">
                <a:moveTo>
                  <a:pt x="0" y="0"/>
                </a:moveTo>
                <a:lnTo>
                  <a:pt x="4062813" y="0"/>
                </a:lnTo>
                <a:lnTo>
                  <a:pt x="4062813" y="4062812"/>
                </a:lnTo>
                <a:lnTo>
                  <a:pt x="0" y="406281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9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Box 2"/>
          <p:cNvSpPr/>
          <p:nvPr/>
        </p:nvSpPr>
        <p:spPr>
          <a:xfrm>
            <a:off x="3291840" y="914400"/>
            <a:ext cx="12618360" cy="83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6599"/>
              </a:lnSpc>
            </a:pPr>
            <a:r>
              <a:rPr b="0" lang="en-US" sz="5600" spc="-1" strike="noStrike">
                <a:solidFill>
                  <a:srgbClr val="000000"/>
                </a:solidFill>
                <a:latin typeface="Marhey"/>
                <a:ea typeface="Marhey"/>
              </a:rPr>
              <a:t>Message and Testing</a:t>
            </a:r>
            <a:endParaRPr b="0" lang="ru-RU" sz="5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Box 3"/>
          <p:cNvSpPr/>
          <p:nvPr/>
        </p:nvSpPr>
        <p:spPr>
          <a:xfrm>
            <a:off x="4937760" y="2468880"/>
            <a:ext cx="10606680" cy="46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500040" indent="-380160" defTabSz="914400">
              <a:lnSpc>
                <a:spcPts val="3121"/>
              </a:lnSpc>
              <a:spcAft>
                <a:spcPts val="828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400" spc="21" strike="noStrike">
                <a:solidFill>
                  <a:srgbClr val="000000"/>
                </a:solidFill>
                <a:latin typeface="Sniglet"/>
                <a:ea typeface="Sniglet"/>
              </a:rPr>
              <a:t>The main message: discarded objects do not disappear, and with creativity many of them can become something useful again.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marL="500040" indent="-380160" defTabSz="914400">
              <a:lnSpc>
                <a:spcPts val="3121"/>
              </a:lnSpc>
              <a:spcAft>
                <a:spcPts val="828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400" spc="21" strike="noStrike">
                <a:solidFill>
                  <a:srgbClr val="000000"/>
                </a:solidFill>
                <a:latin typeface="Sniglet"/>
                <a:ea typeface="Sniglet"/>
              </a:rPr>
              <a:t>Reusing and repairing is better than recycling, recycling is better than throwing away, and short-term convenience often causes long-term problems.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marL="500040" indent="-380160" defTabSz="914400">
              <a:lnSpc>
                <a:spcPts val="3121"/>
              </a:lnSpc>
              <a:spcAft>
                <a:spcPts val="828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400" spc="21" strike="noStrike">
                <a:solidFill>
                  <a:srgbClr val="000000"/>
                </a:solidFill>
                <a:latin typeface="Sniglet"/>
                <a:ea typeface="Sniglet"/>
              </a:rPr>
              <a:t>By the end, the player should be able to explain at least one or two unusual recycling methods from the game.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marL="500040" indent="-380160" defTabSz="914400">
              <a:lnSpc>
                <a:spcPts val="3121"/>
              </a:lnSpc>
              <a:spcAft>
                <a:spcPts val="828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400" spc="21" strike="noStrike">
                <a:solidFill>
                  <a:srgbClr val="000000"/>
                </a:solidFill>
                <a:latin typeface="Sniglet"/>
                <a:ea typeface="Sniglet"/>
              </a:rPr>
              <a:t>We will test with 4-10 players and a short survey: can they name and explain an unusual method, and did they notice how their choices changed the world?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Freeform 6"/>
          <p:cNvSpPr/>
          <p:nvPr/>
        </p:nvSpPr>
        <p:spPr>
          <a:xfrm>
            <a:off x="-539640" y="7105320"/>
            <a:ext cx="5443920" cy="4305600"/>
          </a:xfrm>
          <a:custGeom>
            <a:avLst/>
            <a:gdLst>
              <a:gd name="textAreaLeft" fmla="*/ 0 w 5443920"/>
              <a:gd name="textAreaRight" fmla="*/ 5444280 w 5443920"/>
              <a:gd name="textAreaTop" fmla="*/ 0 h 4305600"/>
              <a:gd name="textAreaBottom" fmla="*/ 4305960 h 4305600"/>
            </a:gdLst>
            <a:ahLst/>
            <a:rect l="textAreaLeft" t="textAreaTop" r="textAreaRight" b="textAreaBottom"/>
            <a:pathLst>
              <a:path w="5444403" h="4306028">
                <a:moveTo>
                  <a:pt x="0" y="0"/>
                </a:moveTo>
                <a:lnTo>
                  <a:pt x="5444402" y="0"/>
                </a:lnTo>
                <a:lnTo>
                  <a:pt x="5444402" y="4306028"/>
                </a:lnTo>
                <a:lnTo>
                  <a:pt x="0" y="430602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Freeform 7"/>
          <p:cNvSpPr/>
          <p:nvPr/>
        </p:nvSpPr>
        <p:spPr>
          <a:xfrm flipH="1">
            <a:off x="-869760" y="0"/>
            <a:ext cx="3794760" cy="4084560"/>
          </a:xfrm>
          <a:custGeom>
            <a:avLst/>
            <a:gdLst>
              <a:gd name="textAreaLeft" fmla="*/ -360 w 3794760"/>
              <a:gd name="textAreaRight" fmla="*/ 3794760 w 3794760"/>
              <a:gd name="textAreaTop" fmla="*/ 0 h 4084560"/>
              <a:gd name="textAreaBottom" fmla="*/ 4084920 h 4084560"/>
            </a:gdLst>
            <a:ahLst/>
            <a:rect l="textAreaLeft" t="textAreaTop" r="textAreaRight" b="textAreaBottom"/>
            <a:pathLst>
              <a:path w="3795213" h="4084867">
                <a:moveTo>
                  <a:pt x="3795212" y="0"/>
                </a:moveTo>
                <a:lnTo>
                  <a:pt x="0" y="0"/>
                </a:lnTo>
                <a:lnTo>
                  <a:pt x="0" y="4084867"/>
                </a:lnTo>
                <a:lnTo>
                  <a:pt x="3795212" y="4084867"/>
                </a:lnTo>
                <a:lnTo>
                  <a:pt x="3795212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Freeform 9"/>
          <p:cNvSpPr/>
          <p:nvPr/>
        </p:nvSpPr>
        <p:spPr>
          <a:xfrm>
            <a:off x="5928480" y="7758720"/>
            <a:ext cx="4062600" cy="4062600"/>
          </a:xfrm>
          <a:custGeom>
            <a:avLst/>
            <a:gdLst>
              <a:gd name="textAreaLeft" fmla="*/ 0 w 4062600"/>
              <a:gd name="textAreaRight" fmla="*/ 4062960 w 4062600"/>
              <a:gd name="textAreaTop" fmla="*/ 0 h 4062600"/>
              <a:gd name="textAreaBottom" fmla="*/ 4062960 h 4062600"/>
            </a:gdLst>
            <a:ahLst/>
            <a:rect l="textAreaLeft" t="textAreaTop" r="textAreaRight" b="textAreaBottom"/>
            <a:pathLst>
              <a:path w="4062813" h="4062813">
                <a:moveTo>
                  <a:pt x="0" y="0"/>
                </a:moveTo>
                <a:lnTo>
                  <a:pt x="4062812" y="0"/>
                </a:lnTo>
                <a:lnTo>
                  <a:pt x="4062812" y="4062813"/>
                </a:lnTo>
                <a:lnTo>
                  <a:pt x="0" y="406281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9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Box 2"/>
          <p:cNvSpPr/>
          <p:nvPr/>
        </p:nvSpPr>
        <p:spPr>
          <a:xfrm>
            <a:off x="4297680" y="914400"/>
            <a:ext cx="11429640" cy="83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6599"/>
              </a:lnSpc>
            </a:pPr>
            <a:r>
              <a:rPr b="0" lang="en-US" sz="5600" spc="-1" strike="noStrike">
                <a:solidFill>
                  <a:srgbClr val="000000"/>
                </a:solidFill>
                <a:latin typeface="Marhey"/>
                <a:ea typeface="Marhey"/>
              </a:rPr>
              <a:t>What Makes Us Different</a:t>
            </a:r>
            <a:endParaRPr b="0" lang="ru-RU" sz="5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Box 3"/>
          <p:cNvSpPr/>
          <p:nvPr/>
        </p:nvSpPr>
        <p:spPr>
          <a:xfrm>
            <a:off x="4480560" y="2468880"/>
            <a:ext cx="11429640" cy="38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500040" indent="-380160" defTabSz="914400">
              <a:lnSpc>
                <a:spcPts val="2991"/>
              </a:lnSpc>
              <a:spcAft>
                <a:spcPts val="794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300" spc="21" strike="noStrike">
                <a:solidFill>
                  <a:srgbClr val="000000"/>
                </a:solidFill>
                <a:latin typeface="Sniglet"/>
                <a:ea typeface="Sniglet"/>
              </a:rPr>
              <a:t>Minecraft, Don't Starve, This War of Mine, Eco, and Terra Nil cover survival or ecology, and educational recycling games are usually simple sorting games. After Us combines these ideas in three ways:</a:t>
            </a:r>
            <a:endParaRPr b="0" lang="ru-RU" sz="2300" spc="-1" strike="noStrike">
              <a:solidFill>
                <a:srgbClr val="000000"/>
              </a:solidFill>
              <a:latin typeface="Arial"/>
            </a:endParaRPr>
          </a:p>
          <a:p>
            <a:pPr marL="950040" indent="-380160" defTabSz="914400">
              <a:lnSpc>
                <a:spcPts val="2991"/>
              </a:lnSpc>
              <a:spcAft>
                <a:spcPts val="794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300" spc="21" strike="noStrike">
                <a:solidFill>
                  <a:srgbClr val="000000"/>
                </a:solidFill>
                <a:latin typeface="Sniglet"/>
                <a:ea typeface="Sniglet"/>
              </a:rPr>
              <a:t>Real, little-known green inventions are the gameplay, so the player learns concrete methods and not only that "pollution is bad"</a:t>
            </a:r>
            <a:endParaRPr b="0" lang="ru-RU" sz="2300" spc="-1" strike="noStrike">
              <a:solidFill>
                <a:srgbClr val="000000"/>
              </a:solidFill>
              <a:latin typeface="Arial"/>
            </a:endParaRPr>
          </a:p>
          <a:p>
            <a:pPr marL="950040" indent="-380160" defTabSz="914400">
              <a:lnSpc>
                <a:spcPts val="2991"/>
              </a:lnSpc>
              <a:spcAft>
                <a:spcPts val="794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300" spc="21" strike="noStrike">
                <a:solidFill>
                  <a:srgbClr val="000000"/>
                </a:solidFill>
                <a:latin typeface="Sniglet"/>
                <a:ea typeface="Sniglet"/>
              </a:rPr>
              <a:t>Waste is part of the survival loop, and every used object is a decision</a:t>
            </a:r>
            <a:endParaRPr b="0" lang="ru-RU" sz="2300" spc="-1" strike="noStrike">
              <a:solidFill>
                <a:srgbClr val="000000"/>
              </a:solidFill>
              <a:latin typeface="Arial"/>
            </a:endParaRPr>
          </a:p>
          <a:p>
            <a:pPr marL="950040" indent="-380160" defTabSz="914400">
              <a:lnSpc>
                <a:spcPts val="2991"/>
              </a:lnSpc>
              <a:spcAft>
                <a:spcPts val="794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300" spc="21" strike="noStrike">
                <a:solidFill>
                  <a:srgbClr val="000000"/>
                </a:solidFill>
                <a:latin typeface="Sniglet"/>
                <a:ea typeface="Sniglet"/>
              </a:rPr>
              <a:t>The message comes from experience in the game, not from text explanations</a:t>
            </a:r>
            <a:endParaRPr b="0" lang="ru-RU" sz="2300" spc="-1" strike="noStrike">
              <a:solidFill>
                <a:srgbClr val="000000"/>
              </a:solidFill>
              <a:latin typeface="Arial"/>
            </a:endParaRPr>
          </a:p>
          <a:p>
            <a:pPr marL="500040" indent="-380160" defTabSz="914400">
              <a:lnSpc>
                <a:spcPts val="2991"/>
              </a:lnSpc>
              <a:spcAft>
                <a:spcPts val="794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300" spc="21" strike="noStrike">
                <a:solidFill>
                  <a:srgbClr val="000000"/>
                </a:solidFill>
                <a:latin typeface="Sniglet"/>
                <a:ea typeface="Sniglet"/>
              </a:rPr>
              <a:t>The prototype is planned as a single-player web game for a team of two.</a:t>
            </a:r>
            <a:endParaRPr b="0" lang="ru-RU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Freeform 5"/>
          <p:cNvSpPr/>
          <p:nvPr/>
        </p:nvSpPr>
        <p:spPr>
          <a:xfrm>
            <a:off x="7413120" y="8164800"/>
            <a:ext cx="4155120" cy="3021840"/>
          </a:xfrm>
          <a:custGeom>
            <a:avLst/>
            <a:gdLst>
              <a:gd name="textAreaLeft" fmla="*/ 0 w 4155120"/>
              <a:gd name="textAreaRight" fmla="*/ 4155480 w 4155120"/>
              <a:gd name="textAreaTop" fmla="*/ 0 h 3021840"/>
              <a:gd name="textAreaBottom" fmla="*/ 3022200 h 3021840"/>
            </a:gdLst>
            <a:ahLst/>
            <a:rect l="textAreaLeft" t="textAreaTop" r="textAreaRight" b="textAreaBottom"/>
            <a:pathLst>
              <a:path w="4155574" h="3022236">
                <a:moveTo>
                  <a:pt x="0" y="0"/>
                </a:moveTo>
                <a:lnTo>
                  <a:pt x="4155573" y="0"/>
                </a:lnTo>
                <a:lnTo>
                  <a:pt x="4155573" y="3022236"/>
                </a:lnTo>
                <a:lnTo>
                  <a:pt x="0" y="302223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Freeform 6"/>
          <p:cNvSpPr/>
          <p:nvPr/>
        </p:nvSpPr>
        <p:spPr>
          <a:xfrm>
            <a:off x="16369560" y="6482880"/>
            <a:ext cx="4531680" cy="4201920"/>
          </a:xfrm>
          <a:custGeom>
            <a:avLst/>
            <a:gdLst>
              <a:gd name="textAreaLeft" fmla="*/ 0 w 4531680"/>
              <a:gd name="textAreaRight" fmla="*/ 4532040 w 4531680"/>
              <a:gd name="textAreaTop" fmla="*/ 0 h 4201920"/>
              <a:gd name="textAreaBottom" fmla="*/ 4202280 h 4201920"/>
            </a:gdLst>
            <a:ahLst/>
            <a:rect l="textAreaLeft" t="textAreaTop" r="textAreaRight" b="textAreaBottom"/>
            <a:pathLst>
              <a:path w="4532053" h="4202449">
                <a:moveTo>
                  <a:pt x="0" y="0"/>
                </a:moveTo>
                <a:lnTo>
                  <a:pt x="4532052" y="0"/>
                </a:lnTo>
                <a:lnTo>
                  <a:pt x="4532052" y="4202449"/>
                </a:lnTo>
                <a:lnTo>
                  <a:pt x="0" y="420244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Freeform 7"/>
          <p:cNvSpPr/>
          <p:nvPr/>
        </p:nvSpPr>
        <p:spPr>
          <a:xfrm>
            <a:off x="0" y="0"/>
            <a:ext cx="4173120" cy="3300480"/>
          </a:xfrm>
          <a:custGeom>
            <a:avLst/>
            <a:gdLst>
              <a:gd name="textAreaLeft" fmla="*/ 0 w 4173120"/>
              <a:gd name="textAreaRight" fmla="*/ 4173480 w 4173120"/>
              <a:gd name="textAreaTop" fmla="*/ 0 h 3300480"/>
              <a:gd name="textAreaBottom" fmla="*/ 3300840 h 3300480"/>
            </a:gdLst>
            <a:ahLst/>
            <a:rect l="textAreaLeft" t="textAreaTop" r="textAreaRight" b="textAreaBottom"/>
            <a:pathLst>
              <a:path w="4173371" h="3300757">
                <a:moveTo>
                  <a:pt x="0" y="0"/>
                </a:moveTo>
                <a:lnTo>
                  <a:pt x="4173371" y="0"/>
                </a:lnTo>
                <a:lnTo>
                  <a:pt x="4173371" y="3300757"/>
                </a:lnTo>
                <a:lnTo>
                  <a:pt x="0" y="330075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Freeform 10"/>
          <p:cNvSpPr/>
          <p:nvPr/>
        </p:nvSpPr>
        <p:spPr>
          <a:xfrm>
            <a:off x="-1702440" y="7358760"/>
            <a:ext cx="4062600" cy="4062600"/>
          </a:xfrm>
          <a:custGeom>
            <a:avLst/>
            <a:gdLst>
              <a:gd name="textAreaLeft" fmla="*/ 0 w 4062600"/>
              <a:gd name="textAreaRight" fmla="*/ 4062960 w 4062600"/>
              <a:gd name="textAreaTop" fmla="*/ 0 h 4062600"/>
              <a:gd name="textAreaBottom" fmla="*/ 4062960 h 4062600"/>
            </a:gdLst>
            <a:ahLst/>
            <a:rect l="textAreaLeft" t="textAreaTop" r="textAreaRight" b="textAreaBottom"/>
            <a:pathLst>
              <a:path w="4062813" h="4062813">
                <a:moveTo>
                  <a:pt x="0" y="0"/>
                </a:moveTo>
                <a:lnTo>
                  <a:pt x="4062813" y="0"/>
                </a:lnTo>
                <a:lnTo>
                  <a:pt x="4062813" y="4062812"/>
                </a:lnTo>
                <a:lnTo>
                  <a:pt x="0" y="406281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9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Freeform 2"/>
          <p:cNvSpPr/>
          <p:nvPr/>
        </p:nvSpPr>
        <p:spPr>
          <a:xfrm>
            <a:off x="6726960" y="7943400"/>
            <a:ext cx="4833720" cy="3515400"/>
          </a:xfrm>
          <a:custGeom>
            <a:avLst/>
            <a:gdLst>
              <a:gd name="textAreaLeft" fmla="*/ 0 w 4833720"/>
              <a:gd name="textAreaRight" fmla="*/ 4834080 w 4833720"/>
              <a:gd name="textAreaTop" fmla="*/ 0 h 3515400"/>
              <a:gd name="textAreaBottom" fmla="*/ 3515760 h 3515400"/>
            </a:gdLst>
            <a:ahLst/>
            <a:rect l="textAreaLeft" t="textAreaTop" r="textAreaRight" b="textAreaBottom"/>
            <a:pathLst>
              <a:path w="4834239" h="3515810">
                <a:moveTo>
                  <a:pt x="0" y="0"/>
                </a:moveTo>
                <a:lnTo>
                  <a:pt x="4834240" y="0"/>
                </a:lnTo>
                <a:lnTo>
                  <a:pt x="4834240" y="3515810"/>
                </a:lnTo>
                <a:lnTo>
                  <a:pt x="0" y="351581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Freeform 3"/>
          <p:cNvSpPr/>
          <p:nvPr/>
        </p:nvSpPr>
        <p:spPr>
          <a:xfrm>
            <a:off x="-717480" y="100800"/>
            <a:ext cx="5271840" cy="4888440"/>
          </a:xfrm>
          <a:custGeom>
            <a:avLst/>
            <a:gdLst>
              <a:gd name="textAreaLeft" fmla="*/ 0 w 5271840"/>
              <a:gd name="textAreaRight" fmla="*/ 5272200 w 5271840"/>
              <a:gd name="textAreaTop" fmla="*/ 0 h 4888440"/>
              <a:gd name="textAreaBottom" fmla="*/ 4888800 h 4888440"/>
            </a:gdLst>
            <a:ahLst/>
            <a:rect l="textAreaLeft" t="textAreaTop" r="textAreaRight" b="textAreaBottom"/>
            <a:pathLst>
              <a:path w="5272202" h="4888769">
                <a:moveTo>
                  <a:pt x="0" y="0"/>
                </a:moveTo>
                <a:lnTo>
                  <a:pt x="5272202" y="0"/>
                </a:lnTo>
                <a:lnTo>
                  <a:pt x="5272202" y="4888769"/>
                </a:lnTo>
                <a:lnTo>
                  <a:pt x="0" y="488876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Freeform 4"/>
          <p:cNvSpPr/>
          <p:nvPr/>
        </p:nvSpPr>
        <p:spPr>
          <a:xfrm>
            <a:off x="12083040" y="5443560"/>
            <a:ext cx="8111880" cy="6415560"/>
          </a:xfrm>
          <a:custGeom>
            <a:avLst/>
            <a:gdLst>
              <a:gd name="textAreaLeft" fmla="*/ 0 w 8111880"/>
              <a:gd name="textAreaRight" fmla="*/ 8112240 w 8111880"/>
              <a:gd name="textAreaTop" fmla="*/ 0 h 6415560"/>
              <a:gd name="textAreaBottom" fmla="*/ 6415920 h 6415560"/>
            </a:gdLst>
            <a:ahLst/>
            <a:rect l="textAreaLeft" t="textAreaTop" r="textAreaRight" b="textAreaBottom"/>
            <a:pathLst>
              <a:path w="8112138" h="6415964">
                <a:moveTo>
                  <a:pt x="0" y="0"/>
                </a:moveTo>
                <a:lnTo>
                  <a:pt x="8112138" y="0"/>
                </a:lnTo>
                <a:lnTo>
                  <a:pt x="8112138" y="6415964"/>
                </a:lnTo>
                <a:lnTo>
                  <a:pt x="0" y="641596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Freeform 5"/>
          <p:cNvSpPr/>
          <p:nvPr/>
        </p:nvSpPr>
        <p:spPr>
          <a:xfrm>
            <a:off x="13774320" y="0"/>
            <a:ext cx="4728960" cy="5090040"/>
          </a:xfrm>
          <a:custGeom>
            <a:avLst/>
            <a:gdLst>
              <a:gd name="textAreaLeft" fmla="*/ 0 w 4728960"/>
              <a:gd name="textAreaRight" fmla="*/ 4729320 w 4728960"/>
              <a:gd name="textAreaTop" fmla="*/ 0 h 5090040"/>
              <a:gd name="textAreaBottom" fmla="*/ 5090400 h 5090040"/>
            </a:gdLst>
            <a:ahLst/>
            <a:rect l="textAreaLeft" t="textAreaTop" r="textAreaRight" b="textAreaBottom"/>
            <a:pathLst>
              <a:path w="4729301" h="5090246">
                <a:moveTo>
                  <a:pt x="0" y="0"/>
                </a:moveTo>
                <a:lnTo>
                  <a:pt x="4729301" y="0"/>
                </a:lnTo>
                <a:lnTo>
                  <a:pt x="4729301" y="5090246"/>
                </a:lnTo>
                <a:lnTo>
                  <a:pt x="0" y="509024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Freeform 6"/>
          <p:cNvSpPr/>
          <p:nvPr/>
        </p:nvSpPr>
        <p:spPr>
          <a:xfrm>
            <a:off x="5486400" y="-38160"/>
            <a:ext cx="7314840" cy="2133720"/>
          </a:xfrm>
          <a:custGeom>
            <a:avLst/>
            <a:gdLst>
              <a:gd name="textAreaLeft" fmla="*/ 0 w 7314840"/>
              <a:gd name="textAreaRight" fmla="*/ 7315200 w 7314840"/>
              <a:gd name="textAreaTop" fmla="*/ 0 h 2133720"/>
              <a:gd name="textAreaBottom" fmla="*/ 2134080 h 2133720"/>
            </a:gdLst>
            <a:ahLst/>
            <a:rect l="textAreaLeft" t="textAreaTop" r="textAreaRight" b="textAreaBottom"/>
            <a:pathLst>
              <a:path w="7315200" h="2133956">
                <a:moveTo>
                  <a:pt x="0" y="0"/>
                </a:moveTo>
                <a:lnTo>
                  <a:pt x="7315200" y="0"/>
                </a:lnTo>
                <a:lnTo>
                  <a:pt x="7315200" y="2133956"/>
                </a:lnTo>
                <a:lnTo>
                  <a:pt x="0" y="213395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Freeform 7"/>
          <p:cNvSpPr/>
          <p:nvPr/>
        </p:nvSpPr>
        <p:spPr>
          <a:xfrm>
            <a:off x="-171720" y="6288480"/>
            <a:ext cx="4726080" cy="4726080"/>
          </a:xfrm>
          <a:custGeom>
            <a:avLst/>
            <a:gdLst>
              <a:gd name="textAreaLeft" fmla="*/ 0 w 4726080"/>
              <a:gd name="textAreaRight" fmla="*/ 4726440 w 4726080"/>
              <a:gd name="textAreaTop" fmla="*/ 0 h 4726080"/>
              <a:gd name="textAreaBottom" fmla="*/ 4726440 h 4726080"/>
            </a:gdLst>
            <a:ahLst/>
            <a:rect l="textAreaLeft" t="textAreaTop" r="textAreaRight" b="textAreaBottom"/>
            <a:pathLst>
              <a:path w="4726328" h="4726328">
                <a:moveTo>
                  <a:pt x="0" y="0"/>
                </a:moveTo>
                <a:lnTo>
                  <a:pt x="4726329" y="0"/>
                </a:lnTo>
                <a:lnTo>
                  <a:pt x="4726329" y="4726329"/>
                </a:lnTo>
                <a:lnTo>
                  <a:pt x="0" y="472632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Box 8"/>
          <p:cNvSpPr/>
          <p:nvPr/>
        </p:nvSpPr>
        <p:spPr>
          <a:xfrm>
            <a:off x="3402720" y="3352320"/>
            <a:ext cx="11482560" cy="442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7427"/>
              </a:lnSpc>
            </a:pPr>
            <a:r>
              <a:rPr b="1" lang="en-US" sz="17970" spc="-1" strike="noStrike">
                <a:solidFill>
                  <a:srgbClr val="000000"/>
                </a:solidFill>
                <a:latin typeface="Marhey Bold"/>
                <a:ea typeface="Marhey Bold"/>
              </a:rPr>
              <a:t>Thank You</a:t>
            </a:r>
            <a:endParaRPr b="0" lang="ru-RU" sz="179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LibreOffice/24.2.5.2$Windows_X86_64 LibreOffice_project/bffef4ea93e59bebbeaf7f431bb02b1a39ee8a59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DAHWmkLG11Q</dc:identifier>
  <dc:language>ru-RU</dc:language>
  <cp:lastModifiedBy/>
  <dcterms:modified xsi:type="dcterms:W3CDTF">2026-09-29T22:35:43Z</dcterms:modified>
  <cp:revision>2</cp:revision>
  <dc:subject/>
  <dc:title>Beige Green Ecology Sustainability Group Project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